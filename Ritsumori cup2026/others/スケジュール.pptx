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8A35"/>
    <a:srgbClr val="F3A875"/>
    <a:srgbClr val="EBAE15"/>
    <a:srgbClr val="AA0AB2"/>
    <a:srgbClr val="006699"/>
    <a:srgbClr val="CCFF66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A24C95-9D19-44F3-8BED-C4BEAB706B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87E661B-BF1E-46A7-89F2-13A3937AD6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18B412-7922-47F5-BDC6-E3973760B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36206-C7DA-463F-A73C-BCC6DF555C88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C1AC11-3BD7-49EB-9FFF-83C509F41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361767-F38B-4875-B952-6C509AD5D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3CD96-0F1E-41DA-8B9B-C389999F39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8461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92760E-0059-4052-9627-973600308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5B103E-EE7A-47A2-952E-269A780B7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7E8B3F9-7A8A-4325-B96E-ECE3E7D7E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36206-C7DA-463F-A73C-BCC6DF555C88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D5216E-2E1F-4653-9086-A805839E7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1242C9-8D80-43BF-A1B8-BF0947195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3CD96-0F1E-41DA-8B9B-C389999F39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8064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D1AC2A-4575-47CA-B76D-AB76FFDF3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3F625B2-AB5C-428B-B97D-C5C2A2A77F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C20D8F-8A43-481B-B575-F15277D8D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36206-C7DA-463F-A73C-BCC6DF555C88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A39C85-31D7-47F0-96B5-210E4CEA9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E41A38-FA6F-4A4C-A3CC-409020C16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3CD96-0F1E-41DA-8B9B-C389999F39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7483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933E49-7608-43DC-8862-3977060DD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017272E-8546-4B4D-AEB6-44321EFB54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5D2388E-F654-496C-BD51-80C61117B3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FFB900E-4FC5-4393-BD45-93C325129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36206-C7DA-463F-A73C-BCC6DF555C88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C4B08CA-6DAE-4DC7-9E62-C71F764BA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E2767E7-1667-4A7B-8061-EC6A40FAC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3CD96-0F1E-41DA-8B9B-C389999F39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8460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5F47B5-BC0A-45A8-BC86-98E76CFF3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790EE7A-AEFA-4DB6-B472-F54E93248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7AF0FBF-9A34-418B-ADB0-775DA2EA57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26AB952-0A5B-4D89-9EA5-602A0CB812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51FD0EB-8B04-4203-A0E1-B22A9E161A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0B2A958-072E-4695-9132-7D50107FD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36206-C7DA-463F-A73C-BCC6DF555C88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79DAA9C-E55C-4391-9D16-F37A3032C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DECDEF2-ADBF-40F1-99A6-89274DEBD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3CD96-0F1E-41DA-8B9B-C389999F39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7592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60C412-C5D9-4402-BD84-BFF8DC735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3B677A3-0458-478F-89F1-CF6C985A1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36206-C7DA-463F-A73C-BCC6DF555C88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C4C51E0-7652-4B92-B69E-4CEFC9FF8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9B9DA7D-25FB-48BF-A9DF-7E941B02D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3CD96-0F1E-41DA-8B9B-C389999F39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547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4631C35-03BE-4C9A-B05D-2E0B3B24A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36206-C7DA-463F-A73C-BCC6DF555C88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195D73A-CC0B-435D-8AC0-85F1F004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6B8D213-D21D-44D9-8841-6B19A30AF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3CD96-0F1E-41DA-8B9B-C389999F39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914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8375B6-56AD-4014-967E-71ECAF5C1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0921919-7726-4EC5-AFE3-1326D1577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64B4C3C-80CF-437A-9F41-5043FFC70A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CF0D238-C0DF-4B4D-B6F1-D46EDB1B3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36206-C7DA-463F-A73C-BCC6DF555C88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4003AA2-3287-4403-B184-0FFC1AE46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CD9CC6E-933E-4D6C-B387-4C236120D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3CD96-0F1E-41DA-8B9B-C389999F39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3689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059A47-93A8-4CC0-BDEC-D65A0C5A0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34806DD-F2FC-419C-84CD-0518264FFB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2867911-721F-4326-9A36-3570F6369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DD9878C-559F-4CF5-94E3-5D2A2ECAB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36206-C7DA-463F-A73C-BCC6DF555C88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949A97A-B951-4430-BC48-A8F26096B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CD2FEE-4FFD-4CAB-8697-36A7CAB83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3CD96-0F1E-41DA-8B9B-C389999F39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9964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CE65D4-FF89-48A1-88FA-C36978A12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D4C3350-06F2-47D5-AEB6-CD505CE14F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309C4B-CF5D-47A3-BB88-A7BFE9F52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36206-C7DA-463F-A73C-BCC6DF555C88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213E49-370D-468A-AFA0-6E61769B8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5C14A6-7268-4278-B58C-8D02FB85C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3CD96-0F1E-41DA-8B9B-C389999F39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4845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F70ACD2-4E2E-440A-9BD2-E6C4CED4DB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99F6F6B-A0ED-4AEB-9CC5-5683504B4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92F429-2297-44DC-A3FA-EBA2F8825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36206-C7DA-463F-A73C-BCC6DF555C88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986911-0E33-4911-B224-A2F1A08E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D21F27-C5CA-4B96-AD74-D5C2F316F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3CD96-0F1E-41DA-8B9B-C389999F39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3742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5A0789C-DBB7-4E31-9456-8990F4EDF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ED73D89-28F7-4B0E-86C5-87E535444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46474C-38FC-4926-850A-361FDE16B8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336206-C7DA-463F-A73C-BCC6DF555C88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305033-4993-4C22-BC8A-263938424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EED0FC-3944-46A8-93AD-6BD1EC3D8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3CD96-0F1E-41DA-8B9B-C389999F39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7183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 5">
            <a:extLst>
              <a:ext uri="{FF2B5EF4-FFF2-40B4-BE49-F238E27FC236}">
                <a16:creationId xmlns:a16="http://schemas.microsoft.com/office/drawing/2014/main" id="{538678A8-F042-42BC-B6D5-361B975BFE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310639"/>
              </p:ext>
            </p:extLst>
          </p:nvPr>
        </p:nvGraphicFramePr>
        <p:xfrm>
          <a:off x="318053" y="984857"/>
          <a:ext cx="8603309" cy="23373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4689">
                  <a:extLst>
                    <a:ext uri="{9D8B030D-6E8A-4147-A177-3AD203B41FA5}">
                      <a16:colId xmlns:a16="http://schemas.microsoft.com/office/drawing/2014/main" val="1831953829"/>
                    </a:ext>
                  </a:extLst>
                </a:gridCol>
                <a:gridCol w="1094770">
                  <a:extLst>
                    <a:ext uri="{9D8B030D-6E8A-4147-A177-3AD203B41FA5}">
                      <a16:colId xmlns:a16="http://schemas.microsoft.com/office/drawing/2014/main" val="3705856040"/>
                    </a:ext>
                  </a:extLst>
                </a:gridCol>
                <a:gridCol w="1094770">
                  <a:extLst>
                    <a:ext uri="{9D8B030D-6E8A-4147-A177-3AD203B41FA5}">
                      <a16:colId xmlns:a16="http://schemas.microsoft.com/office/drawing/2014/main" val="359584382"/>
                    </a:ext>
                  </a:extLst>
                </a:gridCol>
                <a:gridCol w="1094770">
                  <a:extLst>
                    <a:ext uri="{9D8B030D-6E8A-4147-A177-3AD203B41FA5}">
                      <a16:colId xmlns:a16="http://schemas.microsoft.com/office/drawing/2014/main" val="3720535646"/>
                    </a:ext>
                  </a:extLst>
                </a:gridCol>
                <a:gridCol w="1094770">
                  <a:extLst>
                    <a:ext uri="{9D8B030D-6E8A-4147-A177-3AD203B41FA5}">
                      <a16:colId xmlns:a16="http://schemas.microsoft.com/office/drawing/2014/main" val="4163742253"/>
                    </a:ext>
                  </a:extLst>
                </a:gridCol>
                <a:gridCol w="1094770">
                  <a:extLst>
                    <a:ext uri="{9D8B030D-6E8A-4147-A177-3AD203B41FA5}">
                      <a16:colId xmlns:a16="http://schemas.microsoft.com/office/drawing/2014/main" val="2899359654"/>
                    </a:ext>
                  </a:extLst>
                </a:gridCol>
                <a:gridCol w="1094770">
                  <a:extLst>
                    <a:ext uri="{9D8B030D-6E8A-4147-A177-3AD203B41FA5}">
                      <a16:colId xmlns:a16="http://schemas.microsoft.com/office/drawing/2014/main" val="2448632567"/>
                    </a:ext>
                  </a:extLst>
                </a:gridCol>
              </a:tblGrid>
              <a:tr h="49408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bg1"/>
                          </a:solidFill>
                        </a:rPr>
                        <a:t>スケジュール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</a:t>
                      </a:r>
                      <a:r>
                        <a:rPr kumimoji="1" lang="ja-JP" altLang="en-US" dirty="0"/>
                        <a:t>月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8A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</a:t>
                      </a:r>
                      <a:r>
                        <a:rPr kumimoji="1" lang="ja-JP" altLang="en-US" dirty="0"/>
                        <a:t>月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8A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3</a:t>
                      </a:r>
                      <a:r>
                        <a:rPr kumimoji="1" lang="ja-JP" altLang="en-US" dirty="0"/>
                        <a:t>月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8A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4</a:t>
                      </a:r>
                      <a:r>
                        <a:rPr kumimoji="1" lang="ja-JP" altLang="en-US" dirty="0"/>
                        <a:t>月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8A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5</a:t>
                      </a:r>
                      <a:r>
                        <a:rPr kumimoji="1" lang="ja-JP" altLang="en-US" dirty="0"/>
                        <a:t>月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8A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6</a:t>
                      </a:r>
                      <a:r>
                        <a:rPr kumimoji="1" lang="ja-JP" altLang="en-US" dirty="0"/>
                        <a:t>月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8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763738"/>
                  </a:ext>
                </a:extLst>
              </a:tr>
              <a:tr h="61443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bg1"/>
                          </a:solidFill>
                        </a:rPr>
                        <a:t>基板設計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AE15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874035"/>
                  </a:ext>
                </a:extLst>
              </a:tr>
              <a:tr h="61443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bg1"/>
                          </a:solidFill>
                        </a:rPr>
                        <a:t>機体設計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061734"/>
                  </a:ext>
                </a:extLst>
              </a:tr>
              <a:tr h="61443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bg1"/>
                          </a:solidFill>
                        </a:rPr>
                        <a:t>プログラム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0AB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965372"/>
                  </a:ext>
                </a:extLst>
              </a:tr>
            </a:tbl>
          </a:graphicData>
        </a:graphic>
      </p:graphicFrame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6B10A9AE-3790-4DD4-B55B-6CF571AA77F5}"/>
              </a:ext>
            </a:extLst>
          </p:cNvPr>
          <p:cNvGrpSpPr/>
          <p:nvPr/>
        </p:nvGrpSpPr>
        <p:grpSpPr>
          <a:xfrm>
            <a:off x="2918127" y="1459310"/>
            <a:ext cx="1789042" cy="246221"/>
            <a:chOff x="2918127" y="1459310"/>
            <a:chExt cx="1789042" cy="246221"/>
          </a:xfrm>
        </p:grpSpPr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E24D3DCB-6B8A-498D-9727-4A0C2A4F3E53}"/>
                </a:ext>
              </a:extLst>
            </p:cNvPr>
            <p:cNvCxnSpPr>
              <a:cxnSpLocks/>
            </p:cNvCxnSpPr>
            <p:nvPr/>
          </p:nvCxnSpPr>
          <p:spPr>
            <a:xfrm>
              <a:off x="2918127" y="1582420"/>
              <a:ext cx="811033" cy="0"/>
            </a:xfrm>
            <a:prstGeom prst="line">
              <a:avLst/>
            </a:prstGeom>
            <a:ln w="25400">
              <a:solidFill>
                <a:srgbClr val="EBAE15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1904D434-9DF4-4061-A458-096CD780FC72}"/>
                </a:ext>
              </a:extLst>
            </p:cNvPr>
            <p:cNvSpPr txBox="1"/>
            <p:nvPr/>
          </p:nvSpPr>
          <p:spPr>
            <a:xfrm>
              <a:off x="3729160" y="1459310"/>
              <a:ext cx="9780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1000" dirty="0"/>
                <a:t>データ作成</a:t>
              </a:r>
              <a:endParaRPr kumimoji="1" lang="ja-JP" altLang="en-US" sz="1000" dirty="0"/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56E05A36-C242-4AE9-9936-C07EFFC11DDA}"/>
              </a:ext>
            </a:extLst>
          </p:cNvPr>
          <p:cNvGrpSpPr/>
          <p:nvPr/>
        </p:nvGrpSpPr>
        <p:grpSpPr>
          <a:xfrm>
            <a:off x="2918127" y="2071533"/>
            <a:ext cx="1789042" cy="246221"/>
            <a:chOff x="2918127" y="1459310"/>
            <a:chExt cx="1789042" cy="246221"/>
          </a:xfrm>
        </p:grpSpPr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83BFF6C3-8DF5-4695-B57C-66779FAD3B94}"/>
                </a:ext>
              </a:extLst>
            </p:cNvPr>
            <p:cNvCxnSpPr>
              <a:cxnSpLocks/>
            </p:cNvCxnSpPr>
            <p:nvPr/>
          </p:nvCxnSpPr>
          <p:spPr>
            <a:xfrm>
              <a:off x="2918127" y="1582420"/>
              <a:ext cx="811033" cy="0"/>
            </a:xfrm>
            <a:prstGeom prst="line">
              <a:avLst/>
            </a:prstGeom>
            <a:ln w="25400">
              <a:solidFill>
                <a:srgbClr val="006699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8DBE386E-1F4D-433F-B443-CD786F3EE4E3}"/>
                </a:ext>
              </a:extLst>
            </p:cNvPr>
            <p:cNvSpPr txBox="1"/>
            <p:nvPr/>
          </p:nvSpPr>
          <p:spPr>
            <a:xfrm>
              <a:off x="3729160" y="1459310"/>
              <a:ext cx="9780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1000" dirty="0"/>
                <a:t>データ作成</a:t>
              </a:r>
              <a:endParaRPr kumimoji="1" lang="ja-JP" altLang="en-US" sz="1000" dirty="0"/>
            </a:p>
          </p:txBody>
        </p:sp>
      </p:grp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67FA601B-4C90-4618-8516-D6F35D48E5AF}"/>
              </a:ext>
            </a:extLst>
          </p:cNvPr>
          <p:cNvCxnSpPr>
            <a:cxnSpLocks/>
          </p:cNvCxnSpPr>
          <p:nvPr/>
        </p:nvCxnSpPr>
        <p:spPr>
          <a:xfrm>
            <a:off x="2918127" y="2807970"/>
            <a:ext cx="1891030" cy="0"/>
          </a:xfrm>
          <a:prstGeom prst="line">
            <a:avLst/>
          </a:prstGeom>
          <a:ln w="25400">
            <a:solidFill>
              <a:srgbClr val="AA0AB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5054835-E975-44E1-8BEB-E299FECC07E3}"/>
              </a:ext>
            </a:extLst>
          </p:cNvPr>
          <p:cNvSpPr txBox="1"/>
          <p:nvPr/>
        </p:nvSpPr>
        <p:spPr>
          <a:xfrm>
            <a:off x="3429374" y="2831588"/>
            <a:ext cx="11375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プログラム勉強</a:t>
            </a:r>
            <a:endParaRPr kumimoji="1" lang="ja-JP" altLang="en-US" sz="1000" dirty="0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2EAB33E9-302B-4DFA-BDC2-97B02A9C5716}"/>
              </a:ext>
            </a:extLst>
          </p:cNvPr>
          <p:cNvSpPr/>
          <p:nvPr/>
        </p:nvSpPr>
        <p:spPr>
          <a:xfrm>
            <a:off x="3693160" y="1724843"/>
            <a:ext cx="72000" cy="72000"/>
          </a:xfrm>
          <a:prstGeom prst="ellipse">
            <a:avLst/>
          </a:prstGeom>
          <a:solidFill>
            <a:srgbClr val="EBAE15"/>
          </a:solidFill>
          <a:ln w="3175">
            <a:solidFill>
              <a:srgbClr val="EBAE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806001B-DB71-4F06-A451-BBC7D6F5CBC3}"/>
              </a:ext>
            </a:extLst>
          </p:cNvPr>
          <p:cNvSpPr txBox="1"/>
          <p:nvPr/>
        </p:nvSpPr>
        <p:spPr>
          <a:xfrm>
            <a:off x="3729159" y="1641760"/>
            <a:ext cx="978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基板発注</a:t>
            </a:r>
            <a:endParaRPr kumimoji="1" lang="en-US" altLang="ja-JP" sz="1000" dirty="0"/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396952ED-3029-46AB-AD0D-7BC4B8BCD537}"/>
              </a:ext>
            </a:extLst>
          </p:cNvPr>
          <p:cNvCxnSpPr>
            <a:cxnSpLocks/>
          </p:cNvCxnSpPr>
          <p:nvPr/>
        </p:nvCxnSpPr>
        <p:spPr>
          <a:xfrm>
            <a:off x="3729158" y="1948422"/>
            <a:ext cx="1080000" cy="0"/>
          </a:xfrm>
          <a:prstGeom prst="line">
            <a:avLst/>
          </a:prstGeom>
          <a:ln w="25400">
            <a:solidFill>
              <a:srgbClr val="EBAE15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AE3B18FC-97F6-4DF1-8E84-A66789EB33E1}"/>
              </a:ext>
            </a:extLst>
          </p:cNvPr>
          <p:cNvSpPr txBox="1"/>
          <p:nvPr/>
        </p:nvSpPr>
        <p:spPr>
          <a:xfrm>
            <a:off x="4783786" y="1825312"/>
            <a:ext cx="978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動作チェック</a:t>
            </a:r>
            <a:endParaRPr kumimoji="1" lang="en-US" altLang="ja-JP" sz="1000" dirty="0"/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9E2373AB-0D12-4D64-B6A6-33F4B55C6C9B}"/>
              </a:ext>
            </a:extLst>
          </p:cNvPr>
          <p:cNvCxnSpPr>
            <a:cxnSpLocks/>
          </p:cNvCxnSpPr>
          <p:nvPr/>
        </p:nvCxnSpPr>
        <p:spPr>
          <a:xfrm>
            <a:off x="4809158" y="1632783"/>
            <a:ext cx="3240000" cy="0"/>
          </a:xfrm>
          <a:prstGeom prst="line">
            <a:avLst/>
          </a:prstGeom>
          <a:ln w="25400">
            <a:solidFill>
              <a:srgbClr val="EBAE15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301915C1-948F-4008-B2AC-DE2CC228F52D}"/>
              </a:ext>
            </a:extLst>
          </p:cNvPr>
          <p:cNvCxnSpPr>
            <a:cxnSpLocks/>
          </p:cNvCxnSpPr>
          <p:nvPr/>
        </p:nvCxnSpPr>
        <p:spPr>
          <a:xfrm>
            <a:off x="3729157" y="2380146"/>
            <a:ext cx="1080000" cy="0"/>
          </a:xfrm>
          <a:prstGeom prst="line">
            <a:avLst/>
          </a:prstGeom>
          <a:ln w="25400">
            <a:solidFill>
              <a:srgbClr val="006699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52F10AE7-3C2A-4268-BF7D-3D4822CBDA68}"/>
              </a:ext>
            </a:extLst>
          </p:cNvPr>
          <p:cNvSpPr txBox="1"/>
          <p:nvPr/>
        </p:nvSpPr>
        <p:spPr>
          <a:xfrm>
            <a:off x="4766542" y="2255086"/>
            <a:ext cx="978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組み立て</a:t>
            </a:r>
            <a:endParaRPr kumimoji="1" lang="en-US" altLang="ja-JP" sz="1000" dirty="0"/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81CEEB1F-84DE-488B-851E-DE17238CF87E}"/>
              </a:ext>
            </a:extLst>
          </p:cNvPr>
          <p:cNvCxnSpPr>
            <a:cxnSpLocks/>
          </p:cNvCxnSpPr>
          <p:nvPr/>
        </p:nvCxnSpPr>
        <p:spPr>
          <a:xfrm>
            <a:off x="4809157" y="2598745"/>
            <a:ext cx="3240000" cy="0"/>
          </a:xfrm>
          <a:prstGeom prst="line">
            <a:avLst/>
          </a:prstGeom>
          <a:ln w="25400">
            <a:solidFill>
              <a:srgbClr val="006699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494116DC-8F63-4DB0-AA4F-B2FFDB3A58D5}"/>
              </a:ext>
            </a:extLst>
          </p:cNvPr>
          <p:cNvCxnSpPr>
            <a:cxnSpLocks/>
          </p:cNvCxnSpPr>
          <p:nvPr/>
        </p:nvCxnSpPr>
        <p:spPr>
          <a:xfrm>
            <a:off x="4809157" y="2954698"/>
            <a:ext cx="1980000" cy="0"/>
          </a:xfrm>
          <a:prstGeom prst="line">
            <a:avLst/>
          </a:prstGeom>
          <a:ln w="25400">
            <a:solidFill>
              <a:srgbClr val="AA0AB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D499FF12-6B27-4892-BB56-B4FDB378D2DA}"/>
              </a:ext>
            </a:extLst>
          </p:cNvPr>
          <p:cNvCxnSpPr>
            <a:cxnSpLocks/>
          </p:cNvCxnSpPr>
          <p:nvPr/>
        </p:nvCxnSpPr>
        <p:spPr>
          <a:xfrm>
            <a:off x="6789157" y="3123723"/>
            <a:ext cx="1260000" cy="0"/>
          </a:xfrm>
          <a:prstGeom prst="line">
            <a:avLst/>
          </a:prstGeom>
          <a:ln w="25400">
            <a:solidFill>
              <a:srgbClr val="AA0AB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ACE65468-B6B3-434E-8160-F8709AFDD217}"/>
              </a:ext>
            </a:extLst>
          </p:cNvPr>
          <p:cNvSpPr txBox="1"/>
          <p:nvPr/>
        </p:nvSpPr>
        <p:spPr>
          <a:xfrm>
            <a:off x="5606615" y="2967248"/>
            <a:ext cx="11375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プログラム作成</a:t>
            </a:r>
            <a:endParaRPr kumimoji="1" lang="ja-JP" altLang="en-US" sz="1000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B927E569-A527-430A-91F5-A32A05F6604F}"/>
              </a:ext>
            </a:extLst>
          </p:cNvPr>
          <p:cNvSpPr txBox="1"/>
          <p:nvPr/>
        </p:nvSpPr>
        <p:spPr>
          <a:xfrm>
            <a:off x="8052630" y="3000612"/>
            <a:ext cx="4897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調整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665D82F1-773C-4AC4-B16B-2347D97129C6}"/>
              </a:ext>
            </a:extLst>
          </p:cNvPr>
          <p:cNvSpPr txBox="1"/>
          <p:nvPr/>
        </p:nvSpPr>
        <p:spPr>
          <a:xfrm>
            <a:off x="8051244" y="2471478"/>
            <a:ext cx="4897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調整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369B8AB3-69E4-4839-AA7C-6B887EB8A2FE}"/>
              </a:ext>
            </a:extLst>
          </p:cNvPr>
          <p:cNvSpPr txBox="1"/>
          <p:nvPr/>
        </p:nvSpPr>
        <p:spPr>
          <a:xfrm>
            <a:off x="8049157" y="1509673"/>
            <a:ext cx="4897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調整</a:t>
            </a:r>
          </a:p>
        </p:txBody>
      </p:sp>
    </p:spTree>
    <p:extLst>
      <p:ext uri="{BB962C8B-B14F-4D97-AF65-F5344CB8AC3E}">
        <p14:creationId xmlns:p14="http://schemas.microsoft.com/office/powerpoint/2010/main" val="251154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</TotalTime>
  <Words>34</Words>
  <Application>Microsoft Office PowerPoint</Application>
  <PresentationFormat>ワイド画面</PresentationFormat>
  <Paragraphs>20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E24091 巽　智陽</dc:creator>
  <cp:lastModifiedBy>智陽 巽</cp:lastModifiedBy>
  <cp:revision>6</cp:revision>
  <dcterms:created xsi:type="dcterms:W3CDTF">2026-02-15T15:33:37Z</dcterms:created>
  <dcterms:modified xsi:type="dcterms:W3CDTF">2026-02-16T09:23:41Z</dcterms:modified>
</cp:coreProperties>
</file>